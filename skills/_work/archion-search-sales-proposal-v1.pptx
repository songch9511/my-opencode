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목적은 파일럿 시작 의사결정을 만드는 것입니다. KPI와 실행 계획 중심으로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설명보다 의사결정이 목적임을 명확히 전달합니다.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문제는 기능 부족이 아니라 탐색 반복으로 인한 리드타임입니다.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비용화는 절대 숫자보다 인과 구조를 보여주는 것이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 열거가 아니라 실제 사용자 흐름 3단계로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 단위를 명확히 고정해야 실행 중 논쟁이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4주 동안 무엇을 끝내는지 선명하게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책임과 운영 리듬이 명확할수록 파일럿 성공률이 높아집니다.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과약속 방지를 위해 Planned 고지 문구를 명시합니다.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파일럿은 검증 단계, 본 계약은 KPI 증명 이후라는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위험은 은폐가 아니라 관리 대상입니다. 대응안까지 동시에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마지막은 요청이 아닌 결정 문구로 마무리합니다.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749808"/>
            <a:ext cx="10972800" cy="5413248"/>
          </a:xfrm>
          <a:prstGeom prst="round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-822960"/>
            <a:ext cx="4389120" cy="4389120"/>
          </a:xfrm>
          <a:prstGeom prst="ellipse">
            <a:avLst/>
          </a:prstGeom>
          <a:solidFill>
            <a:srgbClr val="8AB4FF">
              <a:alpha val="65000"/>
            </a:srgbClr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47088"/>
            <a:ext cx="5669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Archion Search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BEAF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고객 제안서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36576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디자이너 가구 셀렉 시간 90% 단축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4041648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4주 파일럿으로 KPI를 증명하고, 반복 매출 전환까지 연결합니다.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557784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Dimension Company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411712" y="65196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73152"/>
            <a:ext cx="2423160" cy="292608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65208" y="114300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Archion Search Proposal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758952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오늘 결정할 3가지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4주 파일럿 시작 여부 확정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측정 방식 승인 (검색 시작 -&gt; 컬렉션 저장)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파일럿 이후 상업화 전환 조건 합의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915400" y="1920240"/>
            <a:ext cx="24231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221284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281160" y="2724912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Intro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Outcome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411712" y="65196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73152"/>
            <a:ext cx="2423160" cy="292608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65208" y="114300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Archion Search Proposal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758952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고객의 현재 Pain Point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96112" y="182880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프로젝트마다 가구 탐색/선정에 시간이 과도하게 소요됩니다.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제안서 제출 리드타임이 길어져 응답 속도가 떨어집니다.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디자이너별 작업 편차가 커 운영 효율이 낮아집니다.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고부가가치 설계보다 반복 작업 비중이 높아집니다.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961120" y="1828800"/>
            <a:ext cx="2468880" cy="37490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0" y="20848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병목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0" y="267004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9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탐색 시간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99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과다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326880" y="38587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매출 전환 지연의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직접 원인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11712" y="65196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73152"/>
            <a:ext cx="2423160" cy="292608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65208" y="114300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Archion Search Proposal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758952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cost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문제의 비용화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10332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50545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셀렉 지연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962656" y="25146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5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75888" y="250545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제안 지연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40680" y="25146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5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72200" y="25054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매출 전환 지연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67928" y="25146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5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281160" y="250545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기회 손실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4400" y="40690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동일 인력 대비 월 처리 프로젝트 수가 제한됩니다.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응답 지연이 길수록 고객 결정 속도가 떨어집니다.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작업 집중도가 깨지며 팀 피로가 누적됩니다.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1411712" y="65196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73152"/>
            <a:ext cx="2423160" cy="292608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65208" y="114300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Archion Search Proposal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758952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Search-first MVP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Archion Search 솔루션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938528"/>
            <a:ext cx="3566160" cy="19933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1938528"/>
            <a:ext cx="3566160" cy="199339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63256" y="1938528"/>
            <a:ext cx="3566160" cy="199339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4028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Search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25877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실무 맥락에 맞는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가구 후보 추천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17720" y="224028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Select &amp; Save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5877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컬렉션 저장으로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재사용성 확보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046720" y="224028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Improve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28432" y="258775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로그 + 피드백 기반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주간 개선 루프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96112" y="431596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기존 워크플로우를 유지한 상태에서 도입 가능합니다.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도입 즉시 실행 가능한 구조로 파일럿 리드타임이 짧습니다.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1411712" y="65196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73152"/>
            <a:ext cx="2423160" cy="292608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65208" y="114300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Archion Search Proposal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758952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Measurable proof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핵심 KPI: 가구 셀렉 시간 90% 단축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102870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176272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측정 구간: 검색 시작 -&gt; 컬렉션 저장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97280" y="3291840"/>
            <a:ext cx="2414016" cy="1042416"/>
          </a:xfrm>
          <a:prstGeom prst="roundRect">
            <a:avLst/>
          </a:prstGeom>
          <a:solidFill>
            <a:srgbClr val="DC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3291840"/>
            <a:ext cx="2414016" cy="1042416"/>
          </a:xfrm>
          <a:prstGeom prst="roundRect">
            <a:avLst/>
          </a:prstGeom>
          <a:solidFill>
            <a:srgbClr val="DC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3291840"/>
            <a:ext cx="2414016" cy="1042416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3291840"/>
            <a:ext cx="2414016" cy="1042416"/>
          </a:xfrm>
          <a:prstGeom prst="roundRect">
            <a:avLst/>
          </a:prstGeom>
          <a:solidFill>
            <a:srgbClr val="93C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493008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3493008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5040" y="3493008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0" y="3493008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70916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Mixpanel 이벤트 + 주간 리포트 방식으로 측정합니다.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주간 목표 대비 Current를 공개해 실행 진척을 투명하게 관리합니다.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1411712" y="65196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73152"/>
            <a:ext cx="2423160" cy="292608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65208" y="114300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Archion Search Proposal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758952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design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4주 파일럿 실행안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914400" y="1856232"/>
            <a:ext cx="248716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031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61518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베이스라인 확정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371246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이벤트 세팅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1880" y="1856232"/>
            <a:ext cx="248716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1031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261518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온톨로지/UX 개선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94760" y="371246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계측 정합성 검증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856232"/>
            <a:ext cx="248716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031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61518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병목 개선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371246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 구간 진입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6840" y="1856232"/>
            <a:ext cx="248716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21031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89720" y="261518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최종 최적화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89720" y="371246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 KPI 검증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5358384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산출물: KPI 리포트 + 도입 권고안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411712" y="65196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73152"/>
            <a:ext cx="2423160" cy="292608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65208" y="114300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Archion Search Proposal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758952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run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운영 모델 및 역할 분담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48920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874520"/>
            <a:ext cx="48920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13969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고객사 역할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46888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 1명 지정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실사용 디자이너 2~3명 지정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주간 리뷰 참석 + 피드백 제공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29400" y="213969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당사 역할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46888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세팅/운영/분석 전담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주간 KPI 리포트 제공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이슈 대응 및 개선안 반영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5532120"/>
            <a:ext cx="10149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운영 리듬: 주 1회 30분 리뷰 + 비동기 이슈 대응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411712" y="65196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73152"/>
            <a:ext cx="2423160" cy="292608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65208" y="114300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Archion Search Proposal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758952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module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Archion Canvas 확장 로드맵 (Planned)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783080"/>
            <a:ext cx="11320272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993392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고지: 본 섹션은 계획안이며, 범위/일정은 파일럿 결과에 따라 조정됩니다.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724912"/>
            <a:ext cx="106070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자동 3D 배치: 대표 시나리오 중심으로 단계적 안정화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플러그인 워크플로우: 실행 -&gt; 검토 -&gt; 내보내기 일원화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제안서 산출물 자동화: 시각 결과 + 아이템 리스트 + 가정값 패키지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가치 제안: Search의 시간 단축을 Canvas 협업/제안 시간 단축으로 확장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5532120"/>
            <a:ext cx="10469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596128"/>
            <a:ext cx="10469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MVP 성과를 증명한 뒤, Canvas로 확장하는 단계 전략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411712" y="65196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73152"/>
            <a:ext cx="2423160" cy="292608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65208" y="114300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Archion Search Proposal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758952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to recurring revenue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상업화 모델 (초안)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10332720" cy="475488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6596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단계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96596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모델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96596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목적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0" y="196596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304288"/>
            <a:ext cx="103327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5328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단계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25328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파일럿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53288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측정/검증 중심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0" y="253288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090672"/>
            <a:ext cx="10332720" cy="786384"/>
          </a:xfrm>
          <a:prstGeom prst="rect">
            <a:avLst/>
          </a:prstGeom>
          <a:solidFill>
            <a:srgbClr val="F8FAFC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31927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단계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331927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월 구독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319272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사용자 그룹 적용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0" y="331927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월 단위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3877056"/>
            <a:ext cx="103327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10565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단계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410565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연간 계약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410565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사용자/시나리오 확장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0" y="410565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 단위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확장 조건: 사용자 수, 적용 시나리오, 데이터 범위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전환 판단은 파일럿 KPI 결과 기반으로 합의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11411712" y="65196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73152"/>
            <a:ext cx="2423160" cy="292608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65208" y="114300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Archion Search Proposal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758952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management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리스크와 대응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3886200" cy="777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47488" y="1828800"/>
            <a:ext cx="6199632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8483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계측 불일치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2084832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이벤트 스키마 고정 + 주간 데이터 검수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816352"/>
            <a:ext cx="3886200" cy="777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47488" y="2816352"/>
            <a:ext cx="6199632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07238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범위 확장 요구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3072384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직결 항목 우선, 범위 게이트 운영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803904"/>
            <a:ext cx="3886200" cy="777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7488" y="3803904"/>
            <a:ext cx="6199632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05993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일정 지연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4059936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주간 마일스톤 조기 경보 + 우선순위 재정렬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4791456"/>
            <a:ext cx="3886200" cy="777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47488" y="4791456"/>
            <a:ext cx="6199632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0474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사용성 이슈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5047488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실사용자 피드백 즉시 반영 루프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411712" y="65196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229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오늘 이 3가지만 결정하면 파일럿을 바로 시작할 수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29968"/>
            <a:ext cx="6355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860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파일럿 시작 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6355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45643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고객사 담당자 지정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4370832"/>
            <a:ext cx="6355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62686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이번 주 킥오프 일정 확정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543800" y="2029968"/>
            <a:ext cx="3840480" cy="3182112"/>
          </a:xfrm>
          <a:prstGeom prst="roundRect">
            <a:avLst/>
          </a:prstGeom>
          <a:solidFill>
            <a:srgbClr val="0B3B3C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2128" y="2304288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F3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준비물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18120" y="265176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샘플 프로젝트 2~3개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실사용자 계정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측정 동의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411712" y="6519672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The Dimension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Archion Search 고객 제안서</dc:title>
  <dc:subject>Archion Search Sales Proposal</dc:subject>
  <dc:creator>Daniel Song</dc:creator>
  <cp:lastModifiedBy>Daniel Song</cp:lastModifiedBy>
  <cp:revision>1</cp:revision>
  <dcterms:created xsi:type="dcterms:W3CDTF">2026-02-12T05:18:59Z</dcterms:created>
  <dcterms:modified xsi:type="dcterms:W3CDTF">2026-02-12T05:18:59Z</dcterms:modified>
</cp:coreProperties>
</file>